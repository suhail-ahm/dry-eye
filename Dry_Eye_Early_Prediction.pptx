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Early-Stage Prediction of Dry Eye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</a:defRPr>
            </a:pPr>
            <a:r>
              <a:t>A Machine Learning Approach Using Lifestyle, Sleep &amp; Digital Habits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</a:defRPr>
            </a:pPr>
            <a:r>
              <a:t>Problem Statement &amp; Research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754880"/>
            <a:ext cx="21031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</a:defRPr>
            </a:pPr>
            <a:r>
              <a:t>Suhail Ahmed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97316"/>
                </a:solidFill>
              </a:defRPr>
            </a:pPr>
            <a:r>
              <a:t>344 Million+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</a:defRPr>
            </a:pPr>
            <a:r>
              <a:t>people affected globally by Dry Eye Disease (DED) — WHO 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97316"/>
                </a:solidFill>
              </a:defRPr>
            </a:pPr>
            <a:r>
              <a:t>75% Undiagnosed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</a:defRPr>
            </a:pPr>
            <a:r>
              <a:t>patients remain undiagnosed until significant corneal damage occurs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8619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97316"/>
                </a:solidFill>
              </a:defRPr>
            </a:pPr>
            <a:r>
              <a:t>$3.8 Billion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</a:defRPr>
            </a:pPr>
            <a:r>
              <a:t>annual economic burden in the US alone (direct medical costs)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74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97316"/>
                </a:solidFill>
              </a:defRPr>
            </a:pPr>
            <a:r>
              <a:t>Screen Time Crisis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</a:defRPr>
            </a:pPr>
            <a:r>
              <a:t>avg. 7+ hrs/day digital exposure — #1 modifiable risk factor in &lt;40 age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⚠  Current diagnosis relies on subjective slit-lamp exams — invasive, expensive, and too 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</a:defRPr>
            </a:pPr>
            <a:r>
              <a:t>Why Early Detection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▸  Irreversible Damage — Chronic DED leads to corneal scarring, vision impairment &amp; reduced quality of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▸  Preventable Progression — 80% of early-stage cases are manageable with lifestyle modifications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▸  Digital Generation at Risk — Gen Z &amp; Millennials show 2.5× higher DED incidence vs. prior generations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▸  Silent Onset — Symptoms like occasional dryness are dismissed; by the time patients seek help, damage is advanced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▸  Cost Savings — Early intervention costs ~$200/yr vs. $2,000+/yr for late-stage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▸  Comorbidity Signal — DED correlates with sleep disorders, stress, cardiovascular issues — early flag for systemic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97316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"Can we predict the onset of Dry Eye Disease at an early stage using non-invasive, routinely available patient data — including sleep patterns, stress levels, digital screen habits, lifestyle factors, and ocular symptoms — thereby enabling timely preventive intervention before irreversible corneal damage occurs?"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</a:defRPr>
            </a:pPr>
            <a:r>
              <a:t>Objective 1 — Build a classification model achieving ≥ 75% F1-Score on unseen patient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34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Objective 2 — Identify top risk factors (feature importance) to guide clinical screening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Objective 3 — Create an interpretable risk-scoring tool usable in primary care &amp; telemedicine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Objective 4 — Validate across demographics (age, gender, lifestyle) for generalizability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20,000 patient records  ×  26 attributes  |  Binary target: Dry Eye Disease (Y/N)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Demographics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Gender, Age, Height, Weight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51560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Sleep &amp;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7063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Sleep duration, quality, disorder, wake-up, daytime sleepiness, stress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51560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73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Cardiovascular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478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Blood pressure (systolic/diastolic), heart rate, daily steps, physical activity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1051560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Lifestyle Habits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25111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Caffeine, alcohol, smoking, medication, medical issues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51560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Digital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023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Smart device before bed, avg screen time, blue-light filter usage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32120"/>
            <a:ext cx="10515600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605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</a:defRPr>
            </a:pPr>
            <a:r>
              <a:t>Ocular Symptoms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8795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Eye-strain/discomfort, redness, itchiness/irritation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97316"/>
                </a:solidFill>
              </a:defRPr>
            </a:pPr>
            <a:r>
              <a:t>Proposed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984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Data Collection &amp;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727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Handle missing values, parse blood pressure, encode categoricals, normalize numerics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30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Exploratory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414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Distribution analysis, correlation heatmaps, class imbalance assessment (65:35 split)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99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Statistical feature selection — Cramér's V (categorical), Point-Biserial r (numeric), Chi²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59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04487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679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Model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17880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6 classifiers: Logistic Regression, Decision Tree, Random Forest, Gradient Boosting, XGBoost, KNN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736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Evaluation &amp;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047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Metrics: Accuracy, Precision, Recall, F1-Score, AUC-ROC, 5-fold stratified cross-validation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3212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418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605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Interpretation &amp;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916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Feature importance ranking, confusion matrix analysis, risk-score tool for clinicians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Machine Learning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Type: 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Baseline; interpretable coefficients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18872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188720"/>
            <a:ext cx="34747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Type: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377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Explainable; visual decision paths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Type: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77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Bagging; reduces overfitting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49039"/>
            <a:ext cx="34747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Gradient Boosting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Type: 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5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Sequential error correction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749039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59" y="3749039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0233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4805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Type: 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493775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State-of-the-art tabular performance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749039"/>
            <a:ext cx="34747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749039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0233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K-Nearest Neighbors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4805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Type: Instance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93775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Non-parametric; distance-based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</a:defRPr>
            </a:pPr>
            <a:r>
              <a:t>Expected Outcomes &amp;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🎯  Accurate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A validated ML model achieving ≥75% F1-Score for early DED risk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25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📊  Risk Factor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Quantified feature importance — identifying which lifestyle habits matter most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🏥  Clinical Decision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A deployable risk-scoring system for ophthalmologists &amp; primary care physicians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3464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971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📱  Telemedicine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474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Non-invasive inputs only — can be integrated into mobile health questionnaires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💰  Cost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20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Shift from reactive treatment ($2K+/yr) to preventive care ($200/yr)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48056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6177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🔬  Research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120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Published dataset analysis &amp; model benchmarks for the DED research community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78BFA"/>
                </a:solidFill>
              </a:defRPr>
            </a:pPr>
            <a:r>
              <a:t>Project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984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</a:defRPr>
            </a:pPr>
            <a:r>
              <a:t>Week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Data Collection &amp; 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5727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Dataset acquisition, cleaning, exploratory analysis,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</a:defRPr>
            </a:pPr>
            <a:r>
              <a:t>Week 3-4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30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414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Statistical tests, feature selection, correlation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</a:defRPr>
            </a:pPr>
            <a:r>
              <a:t>Week 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999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Model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3101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Train 6 classifiers, hyperparameter tuning, cross-validation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59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044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</a:defRPr>
            </a:pPr>
            <a:r>
              <a:t>Week 7-8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8679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Evaluation &amp;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1788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Performance comparison, confusion matrices, ROC curves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</a:defRPr>
            </a:pPr>
            <a:r>
              <a:t>Week 9-10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736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Tool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0474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Risk-scoring interface, clinical dashboard, documentation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3212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418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</a:defRPr>
            </a:pPr>
            <a:r>
              <a:t>Week 11-12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605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Report &amp;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9161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Final report, research paper draft, presentation preparation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</a:defRPr>
            </a:pPr>
            <a:r>
              <a:t>Suhail Ahmed  •  suhail@email.com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