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194560"/>
            <a:ext cx="109728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AFAFA"/>
                </a:solidFill>
                <a:latin typeface="Segoe UI"/>
              </a:defRPr>
            </a:pPr>
            <a:r>
              <a:t>Early-Stage Prediction</a:t>
            </a:r>
            <a:br/>
            <a:r>
              <a:t>of Dry Eye Disease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1A1AA"/>
                </a:solidFill>
                <a:latin typeface="Segoe UI"/>
              </a:defRPr>
            </a:pPr>
            <a:r>
              <a:t>A Machine Learning Approach Using Lifestyle, Sleep &amp; Digital Habits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7A"/>
                </a:solidFill>
                <a:latin typeface="Segoe UI"/>
              </a:defRPr>
            </a:pPr>
            <a:r>
              <a:t>2026  ·  Research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Segoe UI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A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51560"/>
            <a:ext cx="4572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2377440" cy="182880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237744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Segoe UI"/>
              </a:defRPr>
            </a:pPr>
            <a:r>
              <a:t>344M+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people affected</a:t>
            </a:r>
            <a:br/>
            <a:r>
              <a:t>globally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645920"/>
            <a:ext cx="2377440" cy="182880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49039" y="1645920"/>
            <a:ext cx="2377440" cy="3200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79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B7185"/>
                </a:solidFill>
                <a:latin typeface="Segoe UI"/>
              </a:defRPr>
            </a:pPr>
            <a:r>
              <a:t>75%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79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remain</a:t>
            </a:r>
            <a:br/>
            <a:r>
              <a:t>undiagnosed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2377440" cy="182880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2377440" cy="3200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BBF24"/>
                </a:solidFill>
                <a:latin typeface="Segoe UI"/>
              </a:defRPr>
            </a:pPr>
            <a:r>
              <a:t>$3.8B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annual burden</a:t>
            </a:r>
            <a:br/>
            <a:r>
              <a:t>(US alone)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1645920"/>
            <a:ext cx="2377440" cy="182880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59" y="1645920"/>
            <a:ext cx="2377440" cy="3200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599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D4BF"/>
                </a:solidFill>
                <a:latin typeface="Segoe UI"/>
              </a:defRPr>
            </a:pPr>
            <a:r>
              <a:t>7+ hrs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avg daily screen</a:t>
            </a:r>
            <a:br/>
            <a:r>
              <a:t>exposure</a:t>
            </a:r>
          </a:p>
        </p:txBody>
      </p:sp>
      <p:pic>
        <p:nvPicPr>
          <p:cNvPr id="20" name="Picture 19" descr="cos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931920"/>
            <a:ext cx="6858000" cy="2560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Segoe U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A"/>
                </a:solidFill>
                <a:latin typeface="Segoe UI"/>
              </a:defRPr>
            </a:pPr>
            <a:r>
              <a:t>WHY EARLY DETECTION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51560"/>
            <a:ext cx="4572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5029200" cy="91440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664208"/>
            <a:ext cx="91440" cy="9144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554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FAFA"/>
                </a:solidFill>
                <a:latin typeface="Segoe UI"/>
              </a:defRPr>
            </a:pPr>
            <a:r>
              <a:t>Irreversible Damage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Segoe UI"/>
              </a:defRPr>
            </a:pPr>
            <a:r>
              <a:t>Chronic DED → corneal scarring &amp; vision loss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468880"/>
            <a:ext cx="5029200" cy="91440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2761488"/>
            <a:ext cx="9144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651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FAFA"/>
                </a:solidFill>
                <a:latin typeface="Segoe UI"/>
              </a:defRPr>
            </a:pPr>
            <a:r>
              <a:t>80% Preventable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71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Segoe UI"/>
              </a:defRPr>
            </a:pPr>
            <a:r>
              <a:t>Early-stage manageable with lifestyle changes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566160"/>
            <a:ext cx="5029200" cy="91440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3858768"/>
            <a:ext cx="9144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749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FAFA"/>
                </a:solidFill>
                <a:latin typeface="Segoe UI"/>
              </a:defRPr>
            </a:pPr>
            <a:r>
              <a:t>Gen Z at 2.5×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069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Segoe UI"/>
              </a:defRPr>
            </a:pPr>
            <a:r>
              <a:t>Digital generation: dramatically higher incidence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663440"/>
            <a:ext cx="5029200" cy="91440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4956048"/>
            <a:ext cx="9144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FAFA"/>
                </a:solidFill>
                <a:latin typeface="Segoe UI"/>
              </a:defRPr>
            </a:pPr>
            <a:r>
              <a:t>Silent Onset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166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Segoe UI"/>
              </a:defRPr>
            </a:pPr>
            <a:r>
              <a:t>Symptoms dismissed until damage is advanced</a:t>
            </a:r>
          </a:p>
        </p:txBody>
      </p:sp>
      <p:pic>
        <p:nvPicPr>
          <p:cNvPr id="20" name="Picture 19" descr="symptom_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389120" cy="411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Segoe U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A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51560"/>
            <a:ext cx="4572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9966960" cy="201168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54864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8961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AFAFA"/>
                </a:solidFill>
                <a:latin typeface="Segoe UI"/>
              </a:defRPr>
            </a:pPr>
            <a:r>
              <a:t>"Can we predict the onset of Dry Eye Disease using non-invasive, routinely available patient data — including sleep patterns, stress levels, digital screen habits, and ocular symptoms — enabling timely preventive intervention before irreversible damage occurs?"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114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A"/>
                </a:solidFill>
                <a:latin typeface="Segoe UI"/>
              </a:defRPr>
            </a:pPr>
            <a:r>
              <a:t>Classification model achieving ≥ 75% F1-Score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114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114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A"/>
                </a:solidFill>
                <a:latin typeface="Segoe UI"/>
              </a:defRPr>
            </a:pPr>
            <a:r>
              <a:t>Identify top risk factors via feature importance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892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A"/>
                </a:solidFill>
                <a:latin typeface="Segoe UI"/>
              </a:defRPr>
            </a:pPr>
            <a:r>
              <a:t>Interpretable risk-scoring tool for primary 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892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A"/>
                </a:solidFill>
                <a:latin typeface="Segoe UI"/>
              </a:defRPr>
            </a:pPr>
            <a:r>
              <a:t>Validate across demographics for generalizability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Segoe U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A"/>
                </a:solidFill>
                <a:latin typeface="Segoe UI"/>
              </a:defRPr>
            </a:pPr>
            <a:r>
              <a:t>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51560"/>
            <a:ext cx="4572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38BDF8"/>
                </a:solidFill>
                <a:latin typeface="Segoe UI"/>
              </a:defRPr>
            </a:pPr>
            <a:r>
              <a:t>20,000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1717A"/>
                </a:solidFill>
                <a:latin typeface="Segoe UI"/>
              </a:defRPr>
            </a:pPr>
            <a:r>
              <a:t>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38BDF8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1717A"/>
                </a:solidFill>
                <a:latin typeface="Segoe UI"/>
              </a:defRPr>
            </a:pPr>
            <a:r>
              <a:t>Features</a:t>
            </a:r>
          </a:p>
        </p:txBody>
      </p:sp>
      <p:pic>
        <p:nvPicPr>
          <p:cNvPr id="8" name="Picture 7" descr="donut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0"/>
            <a:ext cx="3200400" cy="3200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097280" y="3108960"/>
            <a:ext cx="3200400" cy="128016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3108960"/>
            <a:ext cx="32004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AFA"/>
                </a:solidFill>
                <a:latin typeface="Segoe UI"/>
              </a:defRPr>
            </a:pPr>
            <a:r>
              <a:t>Demographics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94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Segoe UI"/>
              </a:defRPr>
            </a:pPr>
            <a:r>
              <a:t>Gender · Age · Height · Weight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108960"/>
            <a:ext cx="3200400" cy="128016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3108960"/>
            <a:ext cx="3200400" cy="320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AFA"/>
                </a:solidFill>
                <a:latin typeface="Segoe UI"/>
              </a:defRPr>
            </a:pPr>
            <a:r>
              <a:t>Sleep &amp; Stress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794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Segoe UI"/>
              </a:defRPr>
            </a:pPr>
            <a:r>
              <a:t>Duration · Quality · Disorder · Sleepiness · Stress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3108960"/>
            <a:ext cx="3200400" cy="128016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3108960"/>
            <a:ext cx="3200400" cy="320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39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AFA"/>
                </a:solidFill>
                <a:latin typeface="Segoe UI"/>
              </a:defRPr>
            </a:pPr>
            <a:r>
              <a:t>Cardiovascular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3794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Segoe UI"/>
              </a:defRPr>
            </a:pPr>
            <a:r>
              <a:t>Blood Pressure · Heart Rate · Steps · Activity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4663440"/>
            <a:ext cx="3200400" cy="128016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" y="4663440"/>
            <a:ext cx="3200400" cy="3200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AFA"/>
                </a:solidFill>
                <a:latin typeface="Segoe UI"/>
              </a:defRPr>
            </a:pPr>
            <a:r>
              <a:t>Lifestyle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349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Segoe UI"/>
              </a:defRPr>
            </a:pPr>
            <a:r>
              <a:t>Caffeine · Alcohol · Smoking · Medication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663440"/>
            <a:ext cx="3200400" cy="128016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4663440"/>
            <a:ext cx="3200400" cy="3200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AFA"/>
                </a:solidFill>
                <a:latin typeface="Segoe UI"/>
              </a:defRPr>
            </a:pPr>
            <a:r>
              <a:t>Digital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349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Segoe UI"/>
              </a:defRPr>
            </a:pPr>
            <a:r>
              <a:t>Screen Time · Device Before Bed · Blue-light Filter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4663440"/>
            <a:ext cx="3200400" cy="128016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19" y="4663440"/>
            <a:ext cx="3200400" cy="3200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39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AFA"/>
                </a:solidFill>
                <a:latin typeface="Segoe UI"/>
              </a:defRPr>
            </a:pPr>
            <a:r>
              <a:t>Ocular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9" y="5349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1A1AA"/>
                </a:solidFill>
                <a:latin typeface="Segoe UI"/>
              </a:defRPr>
            </a:pPr>
            <a:r>
              <a:t>Eye-strain · Redness · Itchiness / Irritation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Segoe U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A"/>
                </a:solidFill>
                <a:latin typeface="Segoe UI"/>
              </a:defRPr>
            </a:pPr>
            <a: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51560"/>
            <a:ext cx="4572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thodolog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4206240"/>
            <a:ext cx="3200400" cy="96012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4343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01  Data Cleaning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4663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Segoe UI"/>
              </a:defRPr>
            </a:pPr>
            <a:r>
              <a:t>Handle missing values, parse BP, encode Y/N → 0/1, normalize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4206240"/>
            <a:ext cx="3200400" cy="96012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4343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02  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4663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Segoe UI"/>
              </a:defRPr>
            </a:pPr>
            <a:r>
              <a:t>Distributions, correlations, class imbalance assessment (65:35)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4206240"/>
            <a:ext cx="3200400" cy="96012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4343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03  Feature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4663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Segoe UI"/>
              </a:defRPr>
            </a:pPr>
            <a:r>
              <a:t>Cramér's V (categorical), Point-Biserial r (numeric), Chi²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349240"/>
            <a:ext cx="3200400" cy="96012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5486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04  Model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806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Segoe UI"/>
              </a:defRPr>
            </a:pPr>
            <a:r>
              <a:t>6 classifiers, 80/20 stratified split, StandardScaler for distance-based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5349240"/>
            <a:ext cx="3200400" cy="96012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5486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05 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5806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Segoe UI"/>
              </a:defRPr>
            </a:pPr>
            <a:r>
              <a:t>Accuracy, Precision, Recall, F1-Score, AUC-ROC, 5-fold cross-validation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5349240"/>
            <a:ext cx="3200400" cy="96012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5486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06 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5806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Segoe UI"/>
              </a:defRPr>
            </a:pPr>
            <a:r>
              <a:t>Feature importance ranking, confusion matrix analysis, risk-score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Segoe U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A"/>
                </a:solidFill>
                <a:latin typeface="Segoe UI"/>
              </a:defRPr>
            </a:pPr>
            <a:r>
              <a:t>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51560"/>
            <a:ext cx="4572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3200400" cy="201168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463040"/>
            <a:ext cx="32004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AFA"/>
                </a:solidFill>
                <a:latin typeface="Segoe UI"/>
              </a:defRPr>
            </a:pPr>
            <a:r>
              <a:t>Logistic Regression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2331720"/>
            <a:ext cx="1280160" cy="2926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3408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Linear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Baseline · Interpretable coefficients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63040"/>
            <a:ext cx="3200400" cy="201168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463040"/>
            <a:ext cx="3200400" cy="320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AFA"/>
                </a:solidFill>
                <a:latin typeface="Segoe UI"/>
              </a:defRPr>
            </a:pPr>
            <a:r>
              <a:t>Decision Tree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331720"/>
            <a:ext cx="1280160" cy="2926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3408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Segoe UI"/>
              </a:defRPr>
            </a:pPr>
            <a:r>
              <a:t>Tree-Based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Explainable · Visual decision paths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463040"/>
            <a:ext cx="3200400" cy="201168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463040"/>
            <a:ext cx="3200400" cy="3200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9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AFA"/>
                </a:solidFill>
                <a:latin typeface="Segoe UI"/>
              </a:defRPr>
            </a:pPr>
            <a:r>
              <a:t>Random Forest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59" y="2331720"/>
            <a:ext cx="1280160" cy="2926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23408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Segoe UI"/>
              </a:defRPr>
            </a:pPr>
            <a:r>
              <a:t>Ensemble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Bagging · Reduces overfitting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3840480"/>
            <a:ext cx="3200400" cy="201168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3840480"/>
            <a:ext cx="3200400" cy="3200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AFA"/>
                </a:solidFill>
                <a:latin typeface="Segoe UI"/>
              </a:defRPr>
            </a:pPr>
            <a:r>
              <a:t>Gradient Boosting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7320" y="4709160"/>
            <a:ext cx="1280160" cy="2926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47183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Segoe UI"/>
              </a:defRPr>
            </a:pPr>
            <a:r>
              <a:t>Ensemble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212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Sequential error correction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3840480"/>
            <a:ext cx="3200400" cy="201168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3840480"/>
            <a:ext cx="3200400" cy="3200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AFA"/>
                </a:solidFill>
                <a:latin typeface="Segoe UI"/>
              </a:defRPr>
            </a:pPr>
            <a:r>
              <a:t>XGBoost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92040" y="4709160"/>
            <a:ext cx="1280160" cy="2926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47183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7185"/>
                </a:solidFill>
                <a:latin typeface="Segoe UI"/>
              </a:defRPr>
            </a:pPr>
            <a:r>
              <a:t>Ensemble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5212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State-of-the-art tabular performance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3840480"/>
            <a:ext cx="3200400" cy="201168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19" y="3840480"/>
            <a:ext cx="3200400" cy="320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59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AFA"/>
                </a:solidFill>
                <a:latin typeface="Segoe UI"/>
              </a:defRPr>
            </a:pPr>
            <a:r>
              <a:t>K-Nearest Neighbors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66759" y="4709160"/>
            <a:ext cx="1280160" cy="292608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19" y="47183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Segoe UI"/>
              </a:defRPr>
            </a:pPr>
            <a:r>
              <a:t>Instance-Based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59" y="5212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Non-parametric · Distance-based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Segoe U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A"/>
                </a:solidFill>
                <a:latin typeface="Segoe UI"/>
              </a:defRPr>
            </a:pPr>
            <a:r>
              <a:t>KEY INSIGHTS — RISK FACTORS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51560"/>
            <a:ext cx="4572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isk_fa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943600" cy="4572000"/>
          </a:xfrm>
          <a:prstGeom prst="rect">
            <a:avLst/>
          </a:prstGeom>
        </p:spPr>
      </p:pic>
      <p:pic>
        <p:nvPicPr>
          <p:cNvPr id="5" name="Picture 4" descr="age_preval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280160"/>
            <a:ext cx="45720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1717A"/>
                </a:solidFill>
                <a:latin typeface="Segoe UI"/>
              </a:defRPr>
            </a:pPr>
            <a:r>
              <a:t>DED Prevalence by Age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Segoe U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1717A"/>
                </a:solidFill>
                <a:latin typeface="Segoe UI"/>
              </a:defRPr>
            </a:pPr>
            <a:r>
              <a:t>MODEL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51560"/>
            <a:ext cx="4572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731520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961120" y="1280160"/>
            <a:ext cx="2560320" cy="438912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FAFA"/>
                </a:solidFill>
                <a:latin typeface="Segoe UI"/>
              </a:defRPr>
            </a:pPr>
            <a:r>
              <a:t>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9235440" y="2103120"/>
            <a:ext cx="73152" cy="365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20848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FAFA"/>
                </a:solidFill>
                <a:latin typeface="Segoe UI"/>
              </a:defRPr>
            </a:pPr>
            <a:r>
              <a:t>XGBoost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23591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Segoe UI"/>
              </a:defRPr>
            </a:pPr>
            <a:r>
              <a:t>Best overall F1 and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35440" y="2926079"/>
            <a:ext cx="73152" cy="365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64040" y="290779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FAFA"/>
                </a:solidFill>
                <a:latin typeface="Segoe UI"/>
              </a:defRPr>
            </a:pPr>
            <a:r>
              <a:t>Gradient</a:t>
            </a:r>
            <a:br/>
            <a:r>
              <a:t>Boosting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3182111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Segoe UI"/>
              </a:defRPr>
            </a:pPr>
            <a:r>
              <a:t>Strong runner-up on all metrics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3749039"/>
            <a:ext cx="73152" cy="3657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373075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FAFA"/>
                </a:solidFill>
                <a:latin typeface="Segoe UI"/>
              </a:defRPr>
            </a:pPr>
            <a:r>
              <a:t>Random</a:t>
            </a:r>
            <a:br/>
            <a:r>
              <a:t>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4005071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Segoe UI"/>
              </a:defRPr>
            </a:pPr>
            <a:r>
              <a:t>Robust with low overfitting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4572000"/>
            <a:ext cx="73152" cy="365760"/>
          </a:xfrm>
          <a:prstGeom prst="rect">
            <a:avLst/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45537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FAFA"/>
                </a:solidFill>
                <a:latin typeface="Segoe UI"/>
              </a:defRPr>
            </a:pPr>
            <a:r>
              <a:t>KNN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48280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Segoe UI"/>
              </a:defRPr>
            </a:pPr>
            <a:r>
              <a:t>Weakest — struggles with high dimensionality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Segoe U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0" y="2377440"/>
            <a:ext cx="164592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AFAFA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1A1AA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0" y="4572000"/>
            <a:ext cx="1097280" cy="32004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1717A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Segoe U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